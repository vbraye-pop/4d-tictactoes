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40">
                <a:solidFill>
                  <a:srgbClr val="6F6D66"/>
                </a:solidFill>
                <a:latin typeface="Inter"/>
              </a:rPr>
              <a:t>4D TIC-TAC-TOE · AGENT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9144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E8E6E1"/>
                </a:solidFill>
                <a:latin typeface="Inter"/>
              </a:rPr>
              <a:t>Efficiency × quality, 0–100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7495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6BF"/>
                </a:solidFill>
                <a:latin typeface="Inter"/>
              </a:rPr>
              <a:t>Geometric mean of the cost-time efficiency score and an independent code-quality review (correctness, architecture, tests, completeness). A cell needs to be good on both axes to score well, fast/cheap alone no longer wins.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6816" y="2148840"/>
            <a:ext cx="2394127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50" b="1" i="0" spc="80">
                <a:solidFill>
                  <a:srgbClr val="6F6D66"/>
                </a:solidFill>
                <a:latin typeface="Inter"/>
              </a:rPr>
              <a:t>CLAUDE-CODE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2947" y="2148840"/>
            <a:ext cx="2394127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50" b="1" i="0" spc="80">
                <a:solidFill>
                  <a:srgbClr val="6F6D66"/>
                </a:solidFill>
                <a:latin typeface="Inter"/>
              </a:rPr>
              <a:t>OMH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9078" y="2148840"/>
            <a:ext cx="2394127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50" b="1" i="0" spc="80">
                <a:solidFill>
                  <a:srgbClr val="6F6D66"/>
                </a:solidFill>
                <a:latin typeface="Inter"/>
              </a:rPr>
              <a:t>OPENCODE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209" y="2148840"/>
            <a:ext cx="2394127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50" b="1" i="0" spc="80">
                <a:solidFill>
                  <a:srgbClr val="6F6D66"/>
                </a:solidFill>
                <a:latin typeface="Inter"/>
              </a:rPr>
              <a:t>AIDER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96312"/>
            <a:ext cx="1207008" cy="3822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C9C6BF"/>
                </a:solidFill>
                <a:latin typeface="Inter"/>
              </a:rPr>
              <a:t>Opus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496312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C8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08080C"/>
                </a:solidFill>
                <a:latin typeface="JetBrains Mono"/>
              </a:rPr>
              <a:t>79.7</a:t>
            </a:r>
          </a:p>
          <a:p>
            <a:pPr algn="ctr"/>
            <a:r>
              <a:rPr sz="850" b="0">
                <a:solidFill>
                  <a:srgbClr val="08080C"/>
                </a:solidFill>
                <a:latin typeface="JetBrains Mono"/>
              </a:rPr>
              <a:t>Q 9.0</a:t>
            </a:r>
          </a:p>
        </p:txBody>
      </p:sp>
      <p:sp>
        <p:nvSpPr>
          <p:cNvPr id="12" name="Oval 11"/>
          <p:cNvSpPr/>
          <p:nvPr/>
        </p:nvSpPr>
        <p:spPr>
          <a:xfrm>
            <a:off x="4241215" y="2551176"/>
            <a:ext cx="54864" cy="54864"/>
          </a:xfrm>
          <a:prstGeom prst="ellipse">
            <a:avLst/>
          </a:prstGeom>
          <a:solidFill>
            <a:srgbClr val="08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2947" y="2496312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921F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53.8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9.8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09078" y="2496312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2A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0.0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8.0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209" y="2496312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3A1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F56B8C"/>
                </a:solidFill>
                <a:latin typeface="Inter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910535"/>
            <a:ext cx="1207008" cy="3822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C9C6BF"/>
                </a:solidFill>
                <a:latin typeface="Inter"/>
              </a:rPr>
              <a:t>Sonnet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56816" y="2910535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2A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0.0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8.8</a:t>
            </a:r>
          </a:p>
        </p:txBody>
      </p:sp>
      <p:sp>
        <p:nvSpPr>
          <p:cNvPr id="18" name="Oval 17"/>
          <p:cNvSpPr/>
          <p:nvPr/>
        </p:nvSpPr>
        <p:spPr>
          <a:xfrm>
            <a:off x="4241215" y="2965399"/>
            <a:ext cx="54864" cy="54864"/>
          </a:xfrm>
          <a:prstGeom prst="ellipse">
            <a:avLst/>
          </a:prstGeom>
          <a:solidFill>
            <a:srgbClr val="E8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2947" y="2910535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93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54.4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9.3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09078" y="2910535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B75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08080C"/>
                </a:solidFill>
                <a:latin typeface="JetBrains Mono"/>
              </a:rPr>
              <a:t>71.6</a:t>
            </a:r>
          </a:p>
          <a:p>
            <a:pPr algn="ctr"/>
            <a:r>
              <a:rPr sz="850" b="0">
                <a:solidFill>
                  <a:srgbClr val="08080C"/>
                </a:solidFill>
                <a:latin typeface="JetBrains Mono"/>
              </a:rPr>
              <a:t>Q 8.8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209" y="2910535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A3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61.7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7.3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324758"/>
            <a:ext cx="1207008" cy="3822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C9C6BF"/>
                </a:solidFill>
                <a:latin typeface="Inter"/>
              </a:rPr>
              <a:t>Fable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56816" y="3324758"/>
            <a:ext cx="2394127" cy="382219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A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900" b="0">
                <a:solidFill>
                  <a:srgbClr val="4F4D47"/>
                </a:solidFill>
                <a:latin typeface="Inter"/>
              </a:rPr>
              <a:t>n/a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2947" y="3324758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2A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0.0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8.3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09078" y="3324758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8F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52.3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9.0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209" y="3324758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AA47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65.0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8.4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38981"/>
            <a:ext cx="1207008" cy="3822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C9C6BF"/>
                </a:solidFill>
                <a:latin typeface="Inter"/>
              </a:rPr>
              <a:t>Qwen 3.8-27B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56816" y="3738981"/>
            <a:ext cx="2394127" cy="382219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A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900" b="0">
                <a:solidFill>
                  <a:srgbClr val="4F4D47"/>
                </a:solidFill>
                <a:latin typeface="Inter"/>
              </a:rPr>
              <a:t>n/a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2947" y="3738981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8412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46.9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7.9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09078" y="3738981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A33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61.8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8.0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209" y="3738981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3A1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F56B8C"/>
                </a:solidFill>
                <a:latin typeface="Inter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153204"/>
            <a:ext cx="1207008" cy="3822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C9C6BF"/>
                </a:solidFill>
                <a:latin typeface="Inter"/>
              </a:rPr>
              <a:t>Qwen 3.8 Max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56816" y="4153204"/>
            <a:ext cx="2394127" cy="382219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A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900" b="0">
                <a:solidFill>
                  <a:srgbClr val="4F4D47"/>
                </a:solidFill>
                <a:latin typeface="Inter"/>
              </a:rPr>
              <a:t>n/a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82947" y="4153204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6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34.5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7.8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09078" y="4153204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9B2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58.1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9.0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5209" y="4153204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C47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08080C"/>
                </a:solidFill>
                <a:latin typeface="JetBrains Mono"/>
              </a:rPr>
              <a:t>77.5</a:t>
            </a:r>
          </a:p>
          <a:p>
            <a:pPr algn="ctr"/>
            <a:r>
              <a:rPr sz="850" b="0">
                <a:solidFill>
                  <a:srgbClr val="08080C"/>
                </a:solidFill>
                <a:latin typeface="JetBrains Mono"/>
              </a:rPr>
              <a:t>Q 6.0</a:t>
            </a:r>
          </a:p>
        </p:txBody>
      </p:sp>
      <p:sp>
        <p:nvSpPr>
          <p:cNvPr id="37" name="Oval 36"/>
          <p:cNvSpPr/>
          <p:nvPr/>
        </p:nvSpPr>
        <p:spPr>
          <a:xfrm>
            <a:off x="11519608" y="4208068"/>
            <a:ext cx="54864" cy="54864"/>
          </a:xfrm>
          <a:prstGeom prst="ellipse">
            <a:avLst/>
          </a:prstGeom>
          <a:solidFill>
            <a:srgbClr val="08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567427"/>
            <a:ext cx="1207008" cy="3822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C9C6BF"/>
                </a:solidFill>
                <a:latin typeface="Inter"/>
              </a:rPr>
              <a:t>Kimi K3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956816" y="4567427"/>
            <a:ext cx="2394127" cy="382219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A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900" b="0">
                <a:solidFill>
                  <a:srgbClr val="4F4D47"/>
                </a:solidFill>
                <a:latin typeface="Inter"/>
              </a:rPr>
              <a:t>n/a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2947" y="4567427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AF50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67.5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6.8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9078" y="4567427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8612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47.9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9.3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35209" y="4567427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BC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08080C"/>
                </a:solidFill>
                <a:latin typeface="JetBrains Mono"/>
              </a:rPr>
              <a:t>73.6</a:t>
            </a:r>
          </a:p>
          <a:p>
            <a:pPr algn="ctr"/>
            <a:r>
              <a:rPr sz="850" b="0">
                <a:solidFill>
                  <a:srgbClr val="08080C"/>
                </a:solidFill>
                <a:latin typeface="JetBrains Mono"/>
              </a:rPr>
              <a:t>Q 7.9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981650"/>
            <a:ext cx="1207008" cy="3822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C9C6BF"/>
                </a:solidFill>
                <a:latin typeface="Inter"/>
              </a:rPr>
              <a:t>GLM-5.3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56816" y="4981650"/>
            <a:ext cx="2394127" cy="382219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A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900" b="0">
                <a:solidFill>
                  <a:srgbClr val="4F4D47"/>
                </a:solidFill>
                <a:latin typeface="Inter"/>
              </a:rPr>
              <a:t>n/a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82947" y="4981650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922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53.9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8.8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09078" y="4981650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7E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44.0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6.0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209" y="4981650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BD68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08080C"/>
                </a:solidFill>
                <a:latin typeface="JetBrains Mono"/>
              </a:rPr>
              <a:t>74.4</a:t>
            </a:r>
          </a:p>
          <a:p>
            <a:pPr algn="ctr"/>
            <a:r>
              <a:rPr sz="850" b="0">
                <a:solidFill>
                  <a:srgbClr val="08080C"/>
                </a:solidFill>
                <a:latin typeface="JetBrains Mono"/>
              </a:rPr>
              <a:t>Q 7.5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395873"/>
            <a:ext cx="1207008" cy="3822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C9C6BF"/>
                </a:solidFill>
                <a:latin typeface="Inter"/>
              </a:rPr>
              <a:t>GLM-5.3-flash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56816" y="5395873"/>
            <a:ext cx="2394127" cy="382219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A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900" b="0">
                <a:solidFill>
                  <a:srgbClr val="4F4D47"/>
                </a:solidFill>
                <a:latin typeface="Inter"/>
              </a:rPr>
              <a:t>n/a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82947" y="5395873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B55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08080C"/>
                </a:solidFill>
                <a:latin typeface="JetBrains Mono"/>
              </a:rPr>
              <a:t>70.6</a:t>
            </a:r>
          </a:p>
          <a:p>
            <a:pPr algn="ctr"/>
            <a:r>
              <a:rPr sz="850" b="0">
                <a:solidFill>
                  <a:srgbClr val="08080C"/>
                </a:solidFill>
                <a:latin typeface="JetBrains Mono"/>
              </a:rPr>
              <a:t>Q 8.5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09078" y="5395873"/>
            <a:ext cx="2394127" cy="382219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A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900" b="0">
                <a:solidFill>
                  <a:srgbClr val="4F4D47"/>
                </a:solidFill>
                <a:latin typeface="Inter"/>
              </a:rPr>
              <a:t>n/a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235209" y="5395873"/>
            <a:ext cx="2394127" cy="382219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A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900" b="0">
                <a:solidFill>
                  <a:srgbClr val="4F4D47"/>
                </a:solidFill>
                <a:latin typeface="Inter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810096"/>
            <a:ext cx="1207008" cy="3822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C9C6BF"/>
                </a:solidFill>
                <a:latin typeface="Inter"/>
              </a:rPr>
              <a:t>GPT-5.5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956816" y="5810096"/>
            <a:ext cx="2394127" cy="382219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A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900" b="0">
                <a:solidFill>
                  <a:srgbClr val="4F4D47"/>
                </a:solidFill>
                <a:latin typeface="Inter"/>
              </a:rPr>
              <a:t>n/a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82947" y="5810096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2B2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300" b="1">
                <a:solidFill>
                  <a:srgbClr val="F5DC5E"/>
                </a:solidFill>
                <a:latin typeface="Inter"/>
              </a:rPr>
              <a:t>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09078" y="5810096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7F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E8E6E1"/>
                </a:solidFill>
                <a:latin typeface="JetBrains Mono"/>
              </a:rPr>
              <a:t>44.5</a:t>
            </a:r>
          </a:p>
          <a:p>
            <a:pPr algn="ctr"/>
            <a:r>
              <a:rPr sz="850" b="0">
                <a:solidFill>
                  <a:srgbClr val="E8E6E1"/>
                </a:solidFill>
                <a:latin typeface="JetBrains Mono"/>
              </a:rPr>
              <a:t>Q 8.0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209" y="5810096"/>
            <a:ext cx="2394127" cy="382219"/>
          </a:xfrm>
          <a:prstGeom prst="roundRect">
            <a:avLst>
              <a:gd name="adj" fmla="val 6000"/>
            </a:avLst>
          </a:prstGeom>
          <a:solidFill>
            <a:srgbClr val="D79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500" b="1">
                <a:solidFill>
                  <a:srgbClr val="08080C"/>
                </a:solidFill>
                <a:latin typeface="JetBrains Mono"/>
              </a:rPr>
              <a:t>86.9</a:t>
            </a:r>
          </a:p>
          <a:p>
            <a:pPr algn="ctr"/>
            <a:r>
              <a:rPr sz="850" b="0">
                <a:solidFill>
                  <a:srgbClr val="08080C"/>
                </a:solidFill>
                <a:latin typeface="JetBrains Mono"/>
              </a:rPr>
              <a:t>Q 9.0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8368" y="6352335"/>
            <a:ext cx="685800" cy="822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A1015"/>
              </a:gs>
              <a:gs pos="100000">
                <a:srgbClr val="D5909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17320" y="6315759"/>
            <a:ext cx="3291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9C6BF"/>
                </a:solidFill>
                <a:latin typeface="Inter"/>
              </a:rPr>
              <a:t>combined efficiency x quality</a:t>
            </a:r>
          </a:p>
        </p:txBody>
      </p:sp>
      <p:sp>
        <p:nvSpPr>
          <p:cNvPr id="60" name="Oval 59"/>
          <p:cNvSpPr/>
          <p:nvPr/>
        </p:nvSpPr>
        <p:spPr>
          <a:xfrm>
            <a:off x="3605479" y="6352335"/>
            <a:ext cx="82296" cy="82296"/>
          </a:xfrm>
          <a:prstGeom prst="ellipse">
            <a:avLst/>
          </a:prstGeom>
          <a:solidFill>
            <a:srgbClr val="C9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83787" y="6315759"/>
            <a:ext cx="3291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9C6BF"/>
                </a:solidFill>
                <a:latin typeface="Inter"/>
              </a:rPr>
              <a:t>efficiency input was duration-only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78270" y="6334047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3A15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79438" y="6315759"/>
            <a:ext cx="3291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9C6BF"/>
                </a:solidFill>
                <a:latin typeface="Inter"/>
              </a:rPr>
              <a:t>failed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130490" y="6334047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2B2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31658" y="6315759"/>
            <a:ext cx="3291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9C6BF"/>
                </a:solidFill>
                <a:latin typeface="Inter"/>
              </a:rPr>
              <a:t>killed early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58368" y="6473952"/>
            <a:ext cx="146304" cy="146304"/>
          </a:xfrm>
          <a:prstGeom prst="roundRect">
            <a:avLst>
              <a:gd name="adj" fmla="val 30000"/>
            </a:avLst>
          </a:prstGeom>
          <a:solidFill>
            <a:srgbClr val="8A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600" b="1">
                <a:solidFill>
                  <a:srgbClr val="E8E6E1"/>
                </a:solidFill>
                <a:latin typeface="Inter"/>
              </a:rPr>
              <a:t>4D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7824" y="646023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4F4D47"/>
                </a:solidFill>
                <a:latin typeface="Inter"/>
              </a:rPr>
              <a:t>4D Tic-Tac-Toe Benchmark · stats.csv + analysis/quality_scores.csv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