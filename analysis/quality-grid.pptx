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6F6D66"/>
                </a:solidFill>
                <a:latin typeface="Inter"/>
              </a:rPr>
              <a:t>4D TIC-TAC-TOE · AGENT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9144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E8E6E1"/>
                </a:solidFill>
                <a:latin typeface="Inter"/>
              </a:rPr>
              <a:t>Code quality, 0–10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7495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9C6BF"/>
                </a:solidFill>
                <a:latin typeface="Inter"/>
              </a:rPr>
              <a:t>Independent review of each working codebase: correctness, architecture, test quality, and completeness against TASK.md. No cost or speed in this number, purely how good the code is. Fixed 0-10 scale, not rescaled per column, so the color tells you the real spread.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56816" y="2148840"/>
            <a:ext cx="2394127" cy="29260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050" b="1" i="0" spc="80">
                <a:solidFill>
                  <a:srgbClr val="6F6D66"/>
                </a:solidFill>
                <a:latin typeface="Inter"/>
              </a:rPr>
              <a:t>CLAUDE-CODE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2947" y="2148840"/>
            <a:ext cx="2394127" cy="29260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050" b="1" i="0" spc="80">
                <a:solidFill>
                  <a:srgbClr val="6F6D66"/>
                </a:solidFill>
                <a:latin typeface="Inter"/>
              </a:rPr>
              <a:t>OMH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9078" y="2148840"/>
            <a:ext cx="2394127" cy="29260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050" b="1" i="0" spc="80">
                <a:solidFill>
                  <a:srgbClr val="6F6D66"/>
                </a:solidFill>
                <a:latin typeface="Inter"/>
              </a:rPr>
              <a:t>OPENCODE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209" y="2148840"/>
            <a:ext cx="2394127" cy="29260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050" b="1" i="0" spc="80">
                <a:solidFill>
                  <a:srgbClr val="6F6D66"/>
                </a:solidFill>
                <a:latin typeface="Inter"/>
              </a:rPr>
              <a:t>AIDER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96312"/>
            <a:ext cx="1207008" cy="3822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C9C6BF"/>
                </a:solidFill>
                <a:latin typeface="Inter"/>
              </a:rPr>
              <a:t>Opus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56816" y="2496312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DE9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08080C"/>
                </a:solidFill>
                <a:latin typeface="JetBrains Mono"/>
              </a:rPr>
              <a:t>9.0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2947" y="2496312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EFBB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08080C"/>
                </a:solidFill>
                <a:latin typeface="JetBrains Mono"/>
              </a:rPr>
              <a:t>9.8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09078" y="2496312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C97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08080C"/>
                </a:solidFill>
                <a:latin typeface="JetBrains Mono"/>
              </a:rPr>
              <a:t>8.0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209" y="2496312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3A1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F56B8C"/>
                </a:solidFill>
                <a:latin typeface="Inter"/>
              </a:rPr>
              <a:t>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910535"/>
            <a:ext cx="1207008" cy="3822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C9C6BF"/>
                </a:solidFill>
                <a:latin typeface="Inter"/>
              </a:rPr>
              <a:t>Sonnet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56816" y="2910535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DA9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08080C"/>
                </a:solidFill>
                <a:latin typeface="JetBrains Mono"/>
              </a:rPr>
              <a:t>8.8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2947" y="2910535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E4A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08080C"/>
                </a:solidFill>
                <a:latin typeface="JetBrains Mono"/>
              </a:rPr>
              <a:t>9.3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09078" y="2910535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DA9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08080C"/>
                </a:solidFill>
                <a:latin typeface="JetBrains Mono"/>
              </a:rPr>
              <a:t>8.8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209" y="2910535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BA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08080C"/>
                </a:solidFill>
                <a:latin typeface="JetBrains Mono"/>
              </a:rPr>
              <a:t>7.3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324758"/>
            <a:ext cx="1207008" cy="3822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C9C6BF"/>
                </a:solidFill>
                <a:latin typeface="Inter"/>
              </a:rPr>
              <a:t>Fable 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56816" y="3324758"/>
            <a:ext cx="2394127" cy="382219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3A3A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900" b="0">
                <a:solidFill>
                  <a:srgbClr val="4F4D47"/>
                </a:solidFill>
                <a:latin typeface="Inter"/>
              </a:rPr>
              <a:t>n/a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2947" y="3324758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CF8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08080C"/>
                </a:solidFill>
                <a:latin typeface="JetBrains Mono"/>
              </a:rPr>
              <a:t>8.3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09078" y="3324758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DE9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08080C"/>
                </a:solidFill>
                <a:latin typeface="JetBrains Mono"/>
              </a:rPr>
              <a:t>9.0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209" y="3324758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D18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08080C"/>
                </a:solidFill>
                <a:latin typeface="JetBrains Mono"/>
              </a:rPr>
              <a:t>8.4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738981"/>
            <a:ext cx="1207008" cy="3822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C9C6BF"/>
                </a:solidFill>
                <a:latin typeface="Inter"/>
              </a:rPr>
              <a:t>Qwen 3.8-27B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56816" y="3738981"/>
            <a:ext cx="2394127" cy="382219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3A3A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900" b="0">
                <a:solidFill>
                  <a:srgbClr val="4F4D47"/>
                </a:solidFill>
                <a:latin typeface="Inter"/>
              </a:rPr>
              <a:t>n/a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2947" y="3738981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C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08080C"/>
                </a:solidFill>
                <a:latin typeface="JetBrains Mono"/>
              </a:rPr>
              <a:t>7.9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09078" y="3738981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C97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08080C"/>
                </a:solidFill>
                <a:latin typeface="JetBrains Mono"/>
              </a:rPr>
              <a:t>8.0</a:t>
            </a:r>
          </a:p>
        </p:txBody>
      </p:sp>
      <p:sp>
        <p:nvSpPr>
          <p:cNvPr id="29" name="Oval 28"/>
          <p:cNvSpPr/>
          <p:nvPr/>
        </p:nvSpPr>
        <p:spPr>
          <a:xfrm>
            <a:off x="9088905" y="3789273"/>
            <a:ext cx="64008" cy="64008"/>
          </a:xfrm>
          <a:prstGeom prst="ellipse">
            <a:avLst/>
          </a:prstGeom>
          <a:solidFill>
            <a:srgbClr val="F5D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35209" y="3738981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5A111C"/>
          </a:solidFill>
          <a:ln w="15875">
            <a:solidFill>
              <a:srgbClr val="F56B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E8E6E1"/>
                </a:solidFill>
                <a:latin typeface="JetBrains Mono"/>
              </a:rPr>
              <a:t>2.5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153204"/>
            <a:ext cx="1207008" cy="3822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C9C6BF"/>
                </a:solidFill>
                <a:latin typeface="Inter"/>
              </a:rPr>
              <a:t>Qwen 3.8 Max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56816" y="4153204"/>
            <a:ext cx="2394127" cy="382219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3A3A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900" b="0">
                <a:solidFill>
                  <a:srgbClr val="4F4D47"/>
                </a:solidFill>
                <a:latin typeface="Inter"/>
              </a:rPr>
              <a:t>n/a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2947" y="4153204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C575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08080C"/>
                </a:solidFill>
                <a:latin typeface="JetBrains Mono"/>
              </a:rPr>
              <a:t>7.8</a:t>
            </a:r>
          </a:p>
        </p:txBody>
      </p:sp>
      <p:sp>
        <p:nvSpPr>
          <p:cNvPr id="34" name="Oval 33"/>
          <p:cNvSpPr/>
          <p:nvPr/>
        </p:nvSpPr>
        <p:spPr>
          <a:xfrm>
            <a:off x="6662774" y="4203496"/>
            <a:ext cx="64008" cy="64008"/>
          </a:xfrm>
          <a:prstGeom prst="ellipse">
            <a:avLst/>
          </a:prstGeom>
          <a:solidFill>
            <a:srgbClr val="F5D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809078" y="4153204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DE9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08080C"/>
                </a:solidFill>
                <a:latin typeface="JetBrains Mono"/>
              </a:rPr>
              <a:t>9.0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5209" y="4153204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9F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E8E6E1"/>
                </a:solidFill>
                <a:latin typeface="JetBrains Mono"/>
              </a:rPr>
              <a:t>6.0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567427"/>
            <a:ext cx="1207008" cy="3822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C9C6BF"/>
                </a:solidFill>
                <a:latin typeface="Inter"/>
              </a:rPr>
              <a:t>Kimi K3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56816" y="4567427"/>
            <a:ext cx="2394127" cy="382219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3A3A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900" b="0">
                <a:solidFill>
                  <a:srgbClr val="4F4D47"/>
                </a:solidFill>
                <a:latin typeface="Inter"/>
              </a:rPr>
              <a:t>n/a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82947" y="4567427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B051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E8E6E1"/>
                </a:solidFill>
                <a:latin typeface="JetBrains Mono"/>
              </a:rPr>
              <a:t>6.8</a:t>
            </a:r>
          </a:p>
        </p:txBody>
      </p:sp>
      <p:sp>
        <p:nvSpPr>
          <p:cNvPr id="40" name="Oval 39"/>
          <p:cNvSpPr/>
          <p:nvPr/>
        </p:nvSpPr>
        <p:spPr>
          <a:xfrm>
            <a:off x="6662774" y="4617719"/>
            <a:ext cx="64008" cy="64008"/>
          </a:xfrm>
          <a:prstGeom prst="ellipse">
            <a:avLst/>
          </a:prstGeom>
          <a:solidFill>
            <a:srgbClr val="F5D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809078" y="4567427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E4A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08080C"/>
                </a:solidFill>
                <a:latin typeface="JetBrains Mono"/>
              </a:rPr>
              <a:t>9.3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35209" y="4567427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C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08080C"/>
                </a:solidFill>
                <a:latin typeface="JetBrains Mono"/>
              </a:rPr>
              <a:t>7.9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4981650"/>
            <a:ext cx="1207008" cy="3822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C9C6BF"/>
                </a:solidFill>
                <a:latin typeface="Inter"/>
              </a:rPr>
              <a:t>GLM-5.3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956816" y="4981650"/>
            <a:ext cx="2394127" cy="382219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3A3A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900" b="0">
                <a:solidFill>
                  <a:srgbClr val="4F4D47"/>
                </a:solidFill>
                <a:latin typeface="Inter"/>
              </a:rPr>
              <a:t>n/a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82947" y="4981650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DA9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08080C"/>
                </a:solidFill>
                <a:latin typeface="JetBrains Mono"/>
              </a:rPr>
              <a:t>8.8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09078" y="4981650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9F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E8E6E1"/>
                </a:solidFill>
                <a:latin typeface="JetBrains Mono"/>
              </a:rPr>
              <a:t>6.0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35209" y="4981650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BE6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08080C"/>
                </a:solidFill>
                <a:latin typeface="JetBrains Mono"/>
              </a:rPr>
              <a:t>7.5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395873"/>
            <a:ext cx="1207008" cy="3822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C9C6BF"/>
                </a:solidFill>
                <a:latin typeface="Inter"/>
              </a:rPr>
              <a:t>GLM-5.3-flash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56816" y="5395873"/>
            <a:ext cx="2394127" cy="382219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3A3A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900" b="0">
                <a:solidFill>
                  <a:srgbClr val="4F4D47"/>
                </a:solidFill>
                <a:latin typeface="Inter"/>
              </a:rPr>
              <a:t>n/a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82947" y="5395873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D48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08080C"/>
                </a:solidFill>
                <a:latin typeface="JetBrains Mono"/>
              </a:rPr>
              <a:t>8.5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09078" y="5395873"/>
            <a:ext cx="2394127" cy="382219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3A3A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900" b="0">
                <a:solidFill>
                  <a:srgbClr val="4F4D47"/>
                </a:solidFill>
                <a:latin typeface="Inter"/>
              </a:rPr>
              <a:t>n/a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35209" y="5395873"/>
            <a:ext cx="2394127" cy="382219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3A3A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900" b="0">
                <a:solidFill>
                  <a:srgbClr val="4F4D47"/>
                </a:solidFill>
                <a:latin typeface="Inter"/>
              </a:rPr>
              <a:t>n/a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5810096"/>
            <a:ext cx="1207008" cy="3822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C9C6BF"/>
                </a:solidFill>
                <a:latin typeface="Inter"/>
              </a:rPr>
              <a:t>GPT-5.5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956816" y="5810096"/>
            <a:ext cx="2394127" cy="382219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3A3A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900" b="0">
                <a:solidFill>
                  <a:srgbClr val="4F4D47"/>
                </a:solidFill>
                <a:latin typeface="Inter"/>
              </a:rPr>
              <a:t>n/a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82947" y="5810096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2B2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300" b="1">
                <a:solidFill>
                  <a:srgbClr val="F5DC5E"/>
                </a:solidFill>
                <a:latin typeface="Inter"/>
              </a:rPr>
              <a:t>●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09078" y="5810096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C97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08080C"/>
                </a:solidFill>
                <a:latin typeface="JetBrains Mono"/>
              </a:rPr>
              <a:t>8.0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35209" y="5810096"/>
            <a:ext cx="2394127" cy="382219"/>
          </a:xfrm>
          <a:prstGeom prst="roundRect">
            <a:avLst>
              <a:gd name="adj" fmla="val 6000"/>
            </a:avLst>
          </a:prstGeom>
          <a:solidFill>
            <a:srgbClr val="DE9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08080C"/>
                </a:solidFill>
                <a:latin typeface="JetBrains Mono"/>
              </a:rPr>
              <a:t>9.0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8368" y="6352335"/>
            <a:ext cx="685800" cy="822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A1015"/>
              </a:gs>
              <a:gs pos="100000">
                <a:srgbClr val="F3C2C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417320" y="6315759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9C6BF"/>
                </a:solidFill>
                <a:latin typeface="Inter"/>
              </a:rPr>
              <a:t>code quality, 0-10, absolute scale</a:t>
            </a:r>
          </a:p>
        </p:txBody>
      </p:sp>
      <p:sp>
        <p:nvSpPr>
          <p:cNvPr id="60" name="Oval 59"/>
          <p:cNvSpPr/>
          <p:nvPr/>
        </p:nvSpPr>
        <p:spPr>
          <a:xfrm>
            <a:off x="3934663" y="6352335"/>
            <a:ext cx="82296" cy="82296"/>
          </a:xfrm>
          <a:prstGeom prst="ellipse">
            <a:avLst/>
          </a:prstGeom>
          <a:solidFill>
            <a:srgbClr val="F5D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2971" y="6315759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9C6BF"/>
                </a:solidFill>
                <a:latin typeface="Inter"/>
              </a:rPr>
              <a:t>real reachable AI/logic bug found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541617" y="6334047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5A111C"/>
          </a:solidFill>
          <a:ln w="12700">
            <a:solidFill>
              <a:srgbClr val="F56B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42785" y="6315759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9C6BF"/>
                </a:solidFill>
                <a:latin typeface="Inter"/>
              </a:rPr>
              <a:t>disqualified, doesn't run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644736" y="6334047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3A1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845904" y="6315759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9C6BF"/>
                </a:solidFill>
                <a:latin typeface="Inter"/>
              </a:rPr>
              <a:t>failed, not reviewed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418672" y="6334047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2B2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619840" y="6315759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9C6BF"/>
                </a:solidFill>
                <a:latin typeface="Inter"/>
              </a:rPr>
              <a:t>killed early, not reviewed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58368" y="6473952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8A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600" b="1">
                <a:solidFill>
                  <a:srgbClr val="E8E6E1"/>
                </a:solidFill>
                <a:latin typeface="Inter"/>
              </a:rPr>
              <a:t>4D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7824" y="6460236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F4D47"/>
                </a:solidFill>
                <a:latin typeface="Inter"/>
              </a:rPr>
              <a:t>4D Tic-Tac-Toe Benchmark · analysis/quality_scores.csv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